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A6FC5"/>
                </a:solidFill>
              </a:defRPr>
            </a:pPr>
            <a:r>
              <a:t>Análisis de Componentes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Aplicación sobre europe.csv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6FC5"/>
                </a:solidFill>
              </a:defRPr>
            </a:pPr>
            <a:r>
              <a:t>Sistemas de Inteligencia Artificial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Procedimiento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1.  Construir la matriz X (variables en columnas)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2.  Estandarizar las variables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3.  Calcular la matriz de correlaciones Sx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4.  Calcular autovalores y autovectores (AyA)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5.  Ordenar los autovalores de mayor a menor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6.  Construir la matriz V con los autovectores</a:t>
            </a:r>
          </a:p>
          <a:p>
            <a:pPr>
              <a:defRPr sz="2000" b="0">
                <a:solidFill>
                  <a:srgbClr val="333333"/>
                </a:solidFill>
              </a:defRPr>
            </a:pPr>
            <a:r>
              <a:t>7.  Calcular las nuevas variables Y como combinación lineal de las originales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Pasos 1 y 2 — Matriz X y estandarización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28 países × 7 variables. Las escalas son muy distintas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(Area ~10⁵ vs Inflation ~0-10) → se estandariza.</a:t>
            </a:r>
          </a:p>
        </p:txBody>
      </p:sp>
      <p:pic>
        <p:nvPicPr>
          <p:cNvPr id="4" name="Picture 3" descr="boxplot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7010400" cy="4206240"/>
          </a:xfrm>
          <a:prstGeom prst="rect">
            <a:avLst/>
          </a:prstGeom>
        </p:spPr>
      </p:pic>
      <p:pic>
        <p:nvPicPr>
          <p:cNvPr id="5" name="Picture 4" descr="boxplot_estandar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7010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Paso 3 — Matriz de correlaciones Sx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7772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</a:tblGrid>
              <a:tr h="4800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Life.expe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Pop.growt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Unemploym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-0.53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+0.20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Life.expe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-0.25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Military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+0.29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Pop.growt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-0.17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Unemploym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+1.00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6FC5"/>
                </a:solidFill>
              </a:defRPr>
            </a:pPr>
            <a:r>
              <a:t>Fórmulas (slides 8 y 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Covarianza muestral: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s_ik = (1/(n-1)) · Σ (x_ji − x̄_i)(x_jk − x̄_k)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Correlación muestral: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r_ik = s_ik / (√s_ii · √s_kk)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840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</a:defRPr>
            </a:pPr>
            <a:r>
              <a:t>Interpretación (slide 10):</a:t>
            </a:r>
          </a:p>
          <a:p>
            <a:pPr>
              <a:defRPr sz="1100" b="0">
                <a:solidFill>
                  <a:srgbClr val="333333"/>
                </a:solidFill>
              </a:defRPr>
            </a:pPr>
            <a:r>
              <a:t>•  r &gt; 0  → asociación positiva</a:t>
            </a:r>
          </a:p>
          <a:p>
            <a:pPr>
              <a:defRPr sz="1100" b="0">
                <a:solidFill>
                  <a:srgbClr val="333333"/>
                </a:solidFill>
              </a:defRPr>
            </a:pPr>
            <a:r>
              <a:t>•  r &lt; 0  → asociación negativa</a:t>
            </a:r>
          </a:p>
          <a:p>
            <a:pPr>
              <a:defRPr sz="1100" b="0">
                <a:solidFill>
                  <a:srgbClr val="333333"/>
                </a:solidFill>
              </a:defRPr>
            </a:pPr>
            <a:r>
              <a:t>•  r ≈ 0  → independientes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6FC5"/>
                </a:solidFill>
              </a:defRPr>
            </a:pPr>
            <a:r>
              <a:t>Valores |r| cercanos a 1 → redundancia (slide 16: si no hay correlación no tiene sentido PCA).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Pasos 4-6 — Autovalores, autovectores y proporción de varianza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6FC5"/>
                </a:solidFill>
              </a:defRPr>
            </a:pPr>
            <a:r>
              <a:t>λᵢ = varianza de Yᵢ  (slide 23)     |     Proporción = λᵢ / Σλ  (slide 31)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λᵢ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Acumulada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FC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FC5"/>
                          </a:solidFill>
                        </a:defRPr>
                      </a:pPr>
                      <a:r>
                        <a:t>3.227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FC5"/>
                          </a:solidFill>
                        </a:defRPr>
                      </a:pPr>
                      <a:r>
                        <a:t>46.10%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6FC5"/>
                          </a:solidFill>
                        </a:defRPr>
                      </a:pPr>
                      <a:r>
                        <a:t>46.10%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63.06%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78.25%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89.25%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95.80%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98.21%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Primer autovector  v₁  (cargas de PC1):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Area           -0.1249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GDP            +0.5005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Inflation      -0.4065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Life.expect    +0.4829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Military       -0.1881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Pop.growth     +0.4757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Unemployment   -0.2717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6FC5"/>
                </a:solidFill>
              </a:defRPr>
            </a:pPr>
            <a:r>
              <a:t>Y₁ = Σ vᵢ₁ · Xᵢ_std    (slides 20, 22)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Paso 7 — Componentes Y: índice (PC1) y biplot (PC1 vs PC2)</a:t>
            </a:r>
          </a:p>
        </p:txBody>
      </p:sp>
      <p:pic>
        <p:nvPicPr>
          <p:cNvPr id="3" name="Picture 2" descr="pc1_por_p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0241280" cy="5120640"/>
          </a:xfrm>
          <a:prstGeom prst="rect">
            <a:avLst/>
          </a:prstGeom>
        </p:spPr>
      </p:pic>
      <p:pic>
        <p:nvPicPr>
          <p:cNvPr id="4" name="Picture 3" descr="bi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70408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Conclusión — Interpretación de PC1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•  PC1 captura el 46.1% de la variabilidad total; con PC1+PC2 llegamos al 63%.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 Cargas dominantes en PC1:  GDP (+0.50), Life.expect (+0.48), Pop.growth (+0.48)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en sentido positivo;  Inflation (−0.41) y Unemployment (−0.27) en sentido negativo.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 Países con Y₁ alto (Luxembourg, Switzerland, Norway) ↔ alto GDP, alta expectativa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de vida, baja inflación, bajo desempleo.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Países con Y₁ bajo (Ukraine, Bulgaria, Estonia) ↔ situación opuesta.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 PC1 actúa como un ÍNDICE (slide 38) que resume las 7 variables en una sola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dimensión interpretable como  «nivel de desarrollo socioeconómico».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•  La redundancia entre variables correlacionadas (GDP↔Life.expect, GDP↔Pop.growth,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Inflation↔Life.expect) fue eliminada: las componentes Y son no correlacionadas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    entre sí (slide 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